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2" r:id="rId12"/>
    <p:sldId id="264" r:id="rId13"/>
    <p:sldId id="265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3" d="100"/>
          <a:sy n="73" d="100"/>
        </p:scale>
        <p:origin x="86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1D15A9-9041-4E92-A390-BF9970CD68E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539F83E-3AAD-4BFD-9D71-2D32307623C4}">
      <dgm:prSet/>
      <dgm:spPr/>
      <dgm:t>
        <a:bodyPr/>
        <a:lstStyle/>
        <a:p>
          <a:r>
            <a:rPr lang="en-US"/>
            <a:t>Documentation about tables, architecture, and reports</a:t>
          </a:r>
        </a:p>
      </dgm:t>
    </dgm:pt>
    <dgm:pt modelId="{D717CC15-6AC1-4FF6-8913-FB57D323F4F7}" type="parTrans" cxnId="{38E4E5FD-49A1-4A4D-A5FA-150D7DC350C2}">
      <dgm:prSet/>
      <dgm:spPr/>
      <dgm:t>
        <a:bodyPr/>
        <a:lstStyle/>
        <a:p>
          <a:endParaRPr lang="en-US"/>
        </a:p>
      </dgm:t>
    </dgm:pt>
    <dgm:pt modelId="{470C48F9-B0FD-4711-BD40-41FD1F1E9ED8}" type="sibTrans" cxnId="{38E4E5FD-49A1-4A4D-A5FA-150D7DC350C2}">
      <dgm:prSet/>
      <dgm:spPr/>
      <dgm:t>
        <a:bodyPr/>
        <a:lstStyle/>
        <a:p>
          <a:endParaRPr lang="en-US"/>
        </a:p>
      </dgm:t>
    </dgm:pt>
    <dgm:pt modelId="{B95A3578-0571-4165-AD2F-F0C84A192AB7}">
      <dgm:prSet/>
      <dgm:spPr/>
      <dgm:t>
        <a:bodyPr/>
        <a:lstStyle/>
        <a:p>
          <a:r>
            <a:rPr lang="en-US"/>
            <a:t>Integration of Kafka with “Xarid” databases and its optimization</a:t>
          </a:r>
        </a:p>
      </dgm:t>
    </dgm:pt>
    <dgm:pt modelId="{7AB5ECEC-45C4-4695-A9F9-B8F4D06B7F76}" type="parTrans" cxnId="{21C78812-473E-4C43-9EEF-FDE236FE704E}">
      <dgm:prSet/>
      <dgm:spPr/>
      <dgm:t>
        <a:bodyPr/>
        <a:lstStyle/>
        <a:p>
          <a:endParaRPr lang="en-US"/>
        </a:p>
      </dgm:t>
    </dgm:pt>
    <dgm:pt modelId="{454C2E6E-C873-4967-8D47-E15FF18C1D76}" type="sibTrans" cxnId="{21C78812-473E-4C43-9EEF-FDE236FE704E}">
      <dgm:prSet/>
      <dgm:spPr/>
      <dgm:t>
        <a:bodyPr/>
        <a:lstStyle/>
        <a:p>
          <a:endParaRPr lang="en-US"/>
        </a:p>
      </dgm:t>
    </dgm:pt>
    <dgm:pt modelId="{692D38D1-FE6C-4488-8260-9B72F9ECB488}">
      <dgm:prSet/>
      <dgm:spPr/>
      <dgm:t>
        <a:bodyPr/>
        <a:lstStyle/>
        <a:p>
          <a:r>
            <a:rPr lang="en-US"/>
            <a:t>Integration of Airflow, dbt and metabase in test environment</a:t>
          </a:r>
        </a:p>
      </dgm:t>
    </dgm:pt>
    <dgm:pt modelId="{B76D9EEB-1ED3-4575-AED3-03320B6A84F6}" type="parTrans" cxnId="{CCC89FE8-D6AC-4113-BF39-894B756B970B}">
      <dgm:prSet/>
      <dgm:spPr/>
      <dgm:t>
        <a:bodyPr/>
        <a:lstStyle/>
        <a:p>
          <a:endParaRPr lang="en-US"/>
        </a:p>
      </dgm:t>
    </dgm:pt>
    <dgm:pt modelId="{4C0A2FCA-A4C3-4EAC-BEC0-0D43053C5DC5}" type="sibTrans" cxnId="{CCC89FE8-D6AC-4113-BF39-894B756B970B}">
      <dgm:prSet/>
      <dgm:spPr/>
      <dgm:t>
        <a:bodyPr/>
        <a:lstStyle/>
        <a:p>
          <a:endParaRPr lang="en-US"/>
        </a:p>
      </dgm:t>
    </dgm:pt>
    <dgm:pt modelId="{E1330414-C4B9-441C-9A67-3A8A55A9999C}">
      <dgm:prSet/>
      <dgm:spPr/>
      <dgm:t>
        <a:bodyPr/>
        <a:lstStyle/>
        <a:p>
          <a:r>
            <a:rPr lang="en-US"/>
            <a:t>Start the analysis of “Spot” database</a:t>
          </a:r>
        </a:p>
      </dgm:t>
    </dgm:pt>
    <dgm:pt modelId="{2A97F601-9BFB-4494-B5E2-721BC339AE49}" type="parTrans" cxnId="{D76F418B-9112-49A6-85A7-8012E35BEE8F}">
      <dgm:prSet/>
      <dgm:spPr/>
      <dgm:t>
        <a:bodyPr/>
        <a:lstStyle/>
        <a:p>
          <a:endParaRPr lang="en-US"/>
        </a:p>
      </dgm:t>
    </dgm:pt>
    <dgm:pt modelId="{C874D16C-565F-4A38-9D54-164982152185}" type="sibTrans" cxnId="{D76F418B-9112-49A6-85A7-8012E35BEE8F}">
      <dgm:prSet/>
      <dgm:spPr/>
      <dgm:t>
        <a:bodyPr/>
        <a:lstStyle/>
        <a:p>
          <a:endParaRPr lang="en-US"/>
        </a:p>
      </dgm:t>
    </dgm:pt>
    <dgm:pt modelId="{40F05250-6553-4075-BF4C-39C262D66339}">
      <dgm:prSet/>
      <dgm:spPr/>
      <dgm:t>
        <a:bodyPr/>
        <a:lstStyle/>
        <a:p>
          <a:r>
            <a:rPr lang="en-US" dirty="0"/>
            <a:t>Publishing 4 main reports for ‘E-tender’, ‘Auction’, ‘Shop’ directions</a:t>
          </a:r>
        </a:p>
      </dgm:t>
    </dgm:pt>
    <dgm:pt modelId="{6D6ACD48-1E85-4AD7-A6BB-9DBD02E1B4CB}" type="parTrans" cxnId="{F8BCE428-2CB6-4843-850C-EFC05D29D941}">
      <dgm:prSet/>
      <dgm:spPr/>
      <dgm:t>
        <a:bodyPr/>
        <a:lstStyle/>
        <a:p>
          <a:endParaRPr lang="en-US"/>
        </a:p>
      </dgm:t>
    </dgm:pt>
    <dgm:pt modelId="{8F47798D-156B-4694-9943-B4B09777DEFF}" type="sibTrans" cxnId="{F8BCE428-2CB6-4843-850C-EFC05D29D941}">
      <dgm:prSet/>
      <dgm:spPr/>
      <dgm:t>
        <a:bodyPr/>
        <a:lstStyle/>
        <a:p>
          <a:endParaRPr lang="en-US"/>
        </a:p>
      </dgm:t>
    </dgm:pt>
    <dgm:pt modelId="{EE89954B-77FB-4F8F-A72A-48E4EB7FF577}">
      <dgm:prSet/>
      <dgm:spPr/>
      <dgm:t>
        <a:bodyPr/>
        <a:lstStyle/>
        <a:p>
          <a:r>
            <a:rPr lang="en-US"/>
            <a:t>Making dashboards for plan tracking and e-tender figures</a:t>
          </a:r>
        </a:p>
      </dgm:t>
    </dgm:pt>
    <dgm:pt modelId="{31B93062-B1C9-4F61-8351-EBF3CD14784B}" type="parTrans" cxnId="{0CB950B1-902C-4799-9F66-53F9E7D6007B}">
      <dgm:prSet/>
      <dgm:spPr/>
      <dgm:t>
        <a:bodyPr/>
        <a:lstStyle/>
        <a:p>
          <a:endParaRPr lang="en-US"/>
        </a:p>
      </dgm:t>
    </dgm:pt>
    <dgm:pt modelId="{3893FB3A-2B86-4182-8AC0-30281067EB50}" type="sibTrans" cxnId="{0CB950B1-902C-4799-9F66-53F9E7D6007B}">
      <dgm:prSet/>
      <dgm:spPr/>
      <dgm:t>
        <a:bodyPr/>
        <a:lstStyle/>
        <a:p>
          <a:endParaRPr lang="en-US"/>
        </a:p>
      </dgm:t>
    </dgm:pt>
    <dgm:pt modelId="{A8DAB0A0-1DF0-4D8D-AFA6-E79BAC84B3F0}" type="pres">
      <dgm:prSet presAssocID="{A81D15A9-9041-4E92-A390-BF9970CD68E5}" presName="root" presStyleCnt="0">
        <dgm:presLayoutVars>
          <dgm:dir/>
          <dgm:resizeHandles val="exact"/>
        </dgm:presLayoutVars>
      </dgm:prSet>
      <dgm:spPr/>
    </dgm:pt>
    <dgm:pt modelId="{2AB9349F-1796-45F6-BC68-1A19F0F3DC77}" type="pres">
      <dgm:prSet presAssocID="{2539F83E-3AAD-4BFD-9D71-2D32307623C4}" presName="compNode" presStyleCnt="0"/>
      <dgm:spPr/>
    </dgm:pt>
    <dgm:pt modelId="{971AB157-C48E-41E7-879A-E5119A91EB30}" type="pres">
      <dgm:prSet presAssocID="{2539F83E-3AAD-4BFD-9D71-2D32307623C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База данных"/>
        </a:ext>
      </dgm:extLst>
    </dgm:pt>
    <dgm:pt modelId="{4166E022-7D25-493B-B0D6-F07EEDEF05D9}" type="pres">
      <dgm:prSet presAssocID="{2539F83E-3AAD-4BFD-9D71-2D32307623C4}" presName="spaceRect" presStyleCnt="0"/>
      <dgm:spPr/>
    </dgm:pt>
    <dgm:pt modelId="{5B3D4544-A209-43F8-BBD5-4C13E71DABEE}" type="pres">
      <dgm:prSet presAssocID="{2539F83E-3AAD-4BFD-9D71-2D32307623C4}" presName="textRect" presStyleLbl="revTx" presStyleIdx="0" presStyleCnt="6">
        <dgm:presLayoutVars>
          <dgm:chMax val="1"/>
          <dgm:chPref val="1"/>
        </dgm:presLayoutVars>
      </dgm:prSet>
      <dgm:spPr/>
    </dgm:pt>
    <dgm:pt modelId="{A55E8C1C-73EE-404A-AD1A-D69F7CE81F68}" type="pres">
      <dgm:prSet presAssocID="{470C48F9-B0FD-4711-BD40-41FD1F1E9ED8}" presName="sibTrans" presStyleCnt="0"/>
      <dgm:spPr/>
    </dgm:pt>
    <dgm:pt modelId="{C0066277-36C4-4A82-BA24-52563B592932}" type="pres">
      <dgm:prSet presAssocID="{B95A3578-0571-4165-AD2F-F0C84A192AB7}" presName="compNode" presStyleCnt="0"/>
      <dgm:spPr/>
    </dgm:pt>
    <dgm:pt modelId="{693D4E05-467B-4F65-8660-5285B465889F}" type="pres">
      <dgm:prSet presAssocID="{B95A3578-0571-4165-AD2F-F0C84A192AB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Процессор"/>
        </a:ext>
      </dgm:extLst>
    </dgm:pt>
    <dgm:pt modelId="{5E34593C-841F-4591-9BF5-992862FD3A89}" type="pres">
      <dgm:prSet presAssocID="{B95A3578-0571-4165-AD2F-F0C84A192AB7}" presName="spaceRect" presStyleCnt="0"/>
      <dgm:spPr/>
    </dgm:pt>
    <dgm:pt modelId="{C449BFC9-6504-4D65-B419-70543F38C641}" type="pres">
      <dgm:prSet presAssocID="{B95A3578-0571-4165-AD2F-F0C84A192AB7}" presName="textRect" presStyleLbl="revTx" presStyleIdx="1" presStyleCnt="6">
        <dgm:presLayoutVars>
          <dgm:chMax val="1"/>
          <dgm:chPref val="1"/>
        </dgm:presLayoutVars>
      </dgm:prSet>
      <dgm:spPr/>
    </dgm:pt>
    <dgm:pt modelId="{E8B9656A-6E92-4489-BADA-A4E7AA058AC3}" type="pres">
      <dgm:prSet presAssocID="{454C2E6E-C873-4967-8D47-E15FF18C1D76}" presName="sibTrans" presStyleCnt="0"/>
      <dgm:spPr/>
    </dgm:pt>
    <dgm:pt modelId="{52BE369E-E81F-4417-A6CA-BC86D337BCEB}" type="pres">
      <dgm:prSet presAssocID="{692D38D1-FE6C-4488-8260-9B72F9ECB488}" presName="compNode" presStyleCnt="0"/>
      <dgm:spPr/>
    </dgm:pt>
    <dgm:pt modelId="{39344CD6-EF27-4C42-9E1A-39E3835144CE}" type="pres">
      <dgm:prSet presAssocID="{692D38D1-FE6C-4488-8260-9B72F9ECB488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Сервер"/>
        </a:ext>
      </dgm:extLst>
    </dgm:pt>
    <dgm:pt modelId="{D5C8759F-1D92-4BEA-A492-6C16467FB1B2}" type="pres">
      <dgm:prSet presAssocID="{692D38D1-FE6C-4488-8260-9B72F9ECB488}" presName="spaceRect" presStyleCnt="0"/>
      <dgm:spPr/>
    </dgm:pt>
    <dgm:pt modelId="{E15E07DD-A01C-4162-A6B1-5F4CF869F2A8}" type="pres">
      <dgm:prSet presAssocID="{692D38D1-FE6C-4488-8260-9B72F9ECB488}" presName="textRect" presStyleLbl="revTx" presStyleIdx="2" presStyleCnt="6">
        <dgm:presLayoutVars>
          <dgm:chMax val="1"/>
          <dgm:chPref val="1"/>
        </dgm:presLayoutVars>
      </dgm:prSet>
      <dgm:spPr/>
    </dgm:pt>
    <dgm:pt modelId="{98E91B62-B732-421A-B077-6DA101B157CC}" type="pres">
      <dgm:prSet presAssocID="{4C0A2FCA-A4C3-4EAC-BEC0-0D43053C5DC5}" presName="sibTrans" presStyleCnt="0"/>
      <dgm:spPr/>
    </dgm:pt>
    <dgm:pt modelId="{62230E09-ABDE-4B11-AC3B-FE2F7FAEC784}" type="pres">
      <dgm:prSet presAssocID="{E1330414-C4B9-441C-9A67-3A8A55A9999C}" presName="compNode" presStyleCnt="0"/>
      <dgm:spPr/>
    </dgm:pt>
    <dgm:pt modelId="{D8F8D391-BBE9-44D4-9FFA-18B14F89E7BA}" type="pres">
      <dgm:prSet presAssocID="{E1330414-C4B9-441C-9A67-3A8A55A9999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Статистика"/>
        </a:ext>
      </dgm:extLst>
    </dgm:pt>
    <dgm:pt modelId="{5FCEF73E-1DEB-427E-B6AC-7E6A746B6659}" type="pres">
      <dgm:prSet presAssocID="{E1330414-C4B9-441C-9A67-3A8A55A9999C}" presName="spaceRect" presStyleCnt="0"/>
      <dgm:spPr/>
    </dgm:pt>
    <dgm:pt modelId="{314D7432-4C61-4543-92E6-B10F84AC8C3F}" type="pres">
      <dgm:prSet presAssocID="{E1330414-C4B9-441C-9A67-3A8A55A9999C}" presName="textRect" presStyleLbl="revTx" presStyleIdx="3" presStyleCnt="6">
        <dgm:presLayoutVars>
          <dgm:chMax val="1"/>
          <dgm:chPref val="1"/>
        </dgm:presLayoutVars>
      </dgm:prSet>
      <dgm:spPr/>
    </dgm:pt>
    <dgm:pt modelId="{EA3F7D2E-902C-46E9-9C1E-036BDF588AB4}" type="pres">
      <dgm:prSet presAssocID="{C874D16C-565F-4A38-9D54-164982152185}" presName="sibTrans" presStyleCnt="0"/>
      <dgm:spPr/>
    </dgm:pt>
    <dgm:pt modelId="{2BE612C4-6245-4439-8A70-1C8FB66DAB55}" type="pres">
      <dgm:prSet presAssocID="{40F05250-6553-4075-BF4C-39C262D66339}" presName="compNode" presStyleCnt="0"/>
      <dgm:spPr/>
    </dgm:pt>
    <dgm:pt modelId="{AC125BF6-CDF9-446D-8FDA-0181F68FD3F1}" type="pres">
      <dgm:prSet presAssocID="{40F05250-6553-4075-BF4C-39C262D6633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Молоток судьи"/>
        </a:ext>
      </dgm:extLst>
    </dgm:pt>
    <dgm:pt modelId="{7BB86ABB-6348-42A7-BA5D-7F08A7F02501}" type="pres">
      <dgm:prSet presAssocID="{40F05250-6553-4075-BF4C-39C262D66339}" presName="spaceRect" presStyleCnt="0"/>
      <dgm:spPr/>
    </dgm:pt>
    <dgm:pt modelId="{BEC5AFF9-3C44-44C9-B011-EF6350881690}" type="pres">
      <dgm:prSet presAssocID="{40F05250-6553-4075-BF4C-39C262D66339}" presName="textRect" presStyleLbl="revTx" presStyleIdx="4" presStyleCnt="6">
        <dgm:presLayoutVars>
          <dgm:chMax val="1"/>
          <dgm:chPref val="1"/>
        </dgm:presLayoutVars>
      </dgm:prSet>
      <dgm:spPr/>
    </dgm:pt>
    <dgm:pt modelId="{D36584D2-EA09-412B-8840-20FC2798A368}" type="pres">
      <dgm:prSet presAssocID="{8F47798D-156B-4694-9943-B4B09777DEFF}" presName="sibTrans" presStyleCnt="0"/>
      <dgm:spPr/>
    </dgm:pt>
    <dgm:pt modelId="{918F691A-982C-4011-A4CD-88499F24652B}" type="pres">
      <dgm:prSet presAssocID="{EE89954B-77FB-4F8F-A72A-48E4EB7FF577}" presName="compNode" presStyleCnt="0"/>
      <dgm:spPr/>
    </dgm:pt>
    <dgm:pt modelId="{7B6AB0F4-C050-4524-8CB9-2E54C122BA32}" type="pres">
      <dgm:prSet presAssocID="{EE89954B-77FB-4F8F-A72A-48E4EB7FF577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Измерительный прибор"/>
        </a:ext>
      </dgm:extLst>
    </dgm:pt>
    <dgm:pt modelId="{4B38AA30-5FC0-45A7-892A-086E03B9EAA3}" type="pres">
      <dgm:prSet presAssocID="{EE89954B-77FB-4F8F-A72A-48E4EB7FF577}" presName="spaceRect" presStyleCnt="0"/>
      <dgm:spPr/>
    </dgm:pt>
    <dgm:pt modelId="{D9E6C246-B75F-4C69-9B4B-1103600586F0}" type="pres">
      <dgm:prSet presAssocID="{EE89954B-77FB-4F8F-A72A-48E4EB7FF577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21C78812-473E-4C43-9EEF-FDE236FE704E}" srcId="{A81D15A9-9041-4E92-A390-BF9970CD68E5}" destId="{B95A3578-0571-4165-AD2F-F0C84A192AB7}" srcOrd="1" destOrd="0" parTransId="{7AB5ECEC-45C4-4695-A9F9-B8F4D06B7F76}" sibTransId="{454C2E6E-C873-4967-8D47-E15FF18C1D76}"/>
    <dgm:cxn modelId="{F8BCE428-2CB6-4843-850C-EFC05D29D941}" srcId="{A81D15A9-9041-4E92-A390-BF9970CD68E5}" destId="{40F05250-6553-4075-BF4C-39C262D66339}" srcOrd="4" destOrd="0" parTransId="{6D6ACD48-1E85-4AD7-A6BB-9DBD02E1B4CB}" sibTransId="{8F47798D-156B-4694-9943-B4B09777DEFF}"/>
    <dgm:cxn modelId="{D54F4D3A-B0A2-4BF5-900E-6888F974D8AA}" type="presOf" srcId="{A81D15A9-9041-4E92-A390-BF9970CD68E5}" destId="{A8DAB0A0-1DF0-4D8D-AFA6-E79BAC84B3F0}" srcOrd="0" destOrd="0" presId="urn:microsoft.com/office/officeart/2018/2/layout/IconLabelList"/>
    <dgm:cxn modelId="{13AE9748-34B3-4581-ABC2-CF0DCFF7464A}" type="presOf" srcId="{2539F83E-3AAD-4BFD-9D71-2D32307623C4}" destId="{5B3D4544-A209-43F8-BBD5-4C13E71DABEE}" srcOrd="0" destOrd="0" presId="urn:microsoft.com/office/officeart/2018/2/layout/IconLabelList"/>
    <dgm:cxn modelId="{F1C9D64E-718D-4419-BD99-001E7B85A26D}" type="presOf" srcId="{EE89954B-77FB-4F8F-A72A-48E4EB7FF577}" destId="{D9E6C246-B75F-4C69-9B4B-1103600586F0}" srcOrd="0" destOrd="0" presId="urn:microsoft.com/office/officeart/2018/2/layout/IconLabelList"/>
    <dgm:cxn modelId="{30772E53-FB12-4C35-AF4C-1AE95F76CB4A}" type="presOf" srcId="{692D38D1-FE6C-4488-8260-9B72F9ECB488}" destId="{E15E07DD-A01C-4162-A6B1-5F4CF869F2A8}" srcOrd="0" destOrd="0" presId="urn:microsoft.com/office/officeart/2018/2/layout/IconLabelList"/>
    <dgm:cxn modelId="{A4735F81-2AA7-4509-AA8D-8D3E67FE2251}" type="presOf" srcId="{E1330414-C4B9-441C-9A67-3A8A55A9999C}" destId="{314D7432-4C61-4543-92E6-B10F84AC8C3F}" srcOrd="0" destOrd="0" presId="urn:microsoft.com/office/officeart/2018/2/layout/IconLabelList"/>
    <dgm:cxn modelId="{D76F418B-9112-49A6-85A7-8012E35BEE8F}" srcId="{A81D15A9-9041-4E92-A390-BF9970CD68E5}" destId="{E1330414-C4B9-441C-9A67-3A8A55A9999C}" srcOrd="3" destOrd="0" parTransId="{2A97F601-9BFB-4494-B5E2-721BC339AE49}" sibTransId="{C874D16C-565F-4A38-9D54-164982152185}"/>
    <dgm:cxn modelId="{CAA6B295-F055-4443-A704-67BB2CAC7906}" type="presOf" srcId="{40F05250-6553-4075-BF4C-39C262D66339}" destId="{BEC5AFF9-3C44-44C9-B011-EF6350881690}" srcOrd="0" destOrd="0" presId="urn:microsoft.com/office/officeart/2018/2/layout/IconLabelList"/>
    <dgm:cxn modelId="{0CB950B1-902C-4799-9F66-53F9E7D6007B}" srcId="{A81D15A9-9041-4E92-A390-BF9970CD68E5}" destId="{EE89954B-77FB-4F8F-A72A-48E4EB7FF577}" srcOrd="5" destOrd="0" parTransId="{31B93062-B1C9-4F61-8351-EBF3CD14784B}" sibTransId="{3893FB3A-2B86-4182-8AC0-30281067EB50}"/>
    <dgm:cxn modelId="{7C6706B2-801B-4AAA-BDEB-1E6ED49B423D}" type="presOf" srcId="{B95A3578-0571-4165-AD2F-F0C84A192AB7}" destId="{C449BFC9-6504-4D65-B419-70543F38C641}" srcOrd="0" destOrd="0" presId="urn:microsoft.com/office/officeart/2018/2/layout/IconLabelList"/>
    <dgm:cxn modelId="{CCC89FE8-D6AC-4113-BF39-894B756B970B}" srcId="{A81D15A9-9041-4E92-A390-BF9970CD68E5}" destId="{692D38D1-FE6C-4488-8260-9B72F9ECB488}" srcOrd="2" destOrd="0" parTransId="{B76D9EEB-1ED3-4575-AED3-03320B6A84F6}" sibTransId="{4C0A2FCA-A4C3-4EAC-BEC0-0D43053C5DC5}"/>
    <dgm:cxn modelId="{38E4E5FD-49A1-4A4D-A5FA-150D7DC350C2}" srcId="{A81D15A9-9041-4E92-A390-BF9970CD68E5}" destId="{2539F83E-3AAD-4BFD-9D71-2D32307623C4}" srcOrd="0" destOrd="0" parTransId="{D717CC15-6AC1-4FF6-8913-FB57D323F4F7}" sibTransId="{470C48F9-B0FD-4711-BD40-41FD1F1E9ED8}"/>
    <dgm:cxn modelId="{F1228721-0EFE-416E-AC9F-E12D6AC51E33}" type="presParOf" srcId="{A8DAB0A0-1DF0-4D8D-AFA6-E79BAC84B3F0}" destId="{2AB9349F-1796-45F6-BC68-1A19F0F3DC77}" srcOrd="0" destOrd="0" presId="urn:microsoft.com/office/officeart/2018/2/layout/IconLabelList"/>
    <dgm:cxn modelId="{CA042772-4E29-41BC-B8B8-82F7CF765727}" type="presParOf" srcId="{2AB9349F-1796-45F6-BC68-1A19F0F3DC77}" destId="{971AB157-C48E-41E7-879A-E5119A91EB30}" srcOrd="0" destOrd="0" presId="urn:microsoft.com/office/officeart/2018/2/layout/IconLabelList"/>
    <dgm:cxn modelId="{FEFDCFD3-E3B0-4179-B52C-2B25E442C71F}" type="presParOf" srcId="{2AB9349F-1796-45F6-BC68-1A19F0F3DC77}" destId="{4166E022-7D25-493B-B0D6-F07EEDEF05D9}" srcOrd="1" destOrd="0" presId="urn:microsoft.com/office/officeart/2018/2/layout/IconLabelList"/>
    <dgm:cxn modelId="{00C6283E-5330-48AF-AD08-8BA1A3558F71}" type="presParOf" srcId="{2AB9349F-1796-45F6-BC68-1A19F0F3DC77}" destId="{5B3D4544-A209-43F8-BBD5-4C13E71DABEE}" srcOrd="2" destOrd="0" presId="urn:microsoft.com/office/officeart/2018/2/layout/IconLabelList"/>
    <dgm:cxn modelId="{F3F059CB-3F49-4925-826D-2298BE3FF2F7}" type="presParOf" srcId="{A8DAB0A0-1DF0-4D8D-AFA6-E79BAC84B3F0}" destId="{A55E8C1C-73EE-404A-AD1A-D69F7CE81F68}" srcOrd="1" destOrd="0" presId="urn:microsoft.com/office/officeart/2018/2/layout/IconLabelList"/>
    <dgm:cxn modelId="{781F7014-AEDF-4546-AD1C-DA8A7A03A8E8}" type="presParOf" srcId="{A8DAB0A0-1DF0-4D8D-AFA6-E79BAC84B3F0}" destId="{C0066277-36C4-4A82-BA24-52563B592932}" srcOrd="2" destOrd="0" presId="urn:microsoft.com/office/officeart/2018/2/layout/IconLabelList"/>
    <dgm:cxn modelId="{0D617414-A3C2-4B8D-9B94-DA4511A5D0A6}" type="presParOf" srcId="{C0066277-36C4-4A82-BA24-52563B592932}" destId="{693D4E05-467B-4F65-8660-5285B465889F}" srcOrd="0" destOrd="0" presId="urn:microsoft.com/office/officeart/2018/2/layout/IconLabelList"/>
    <dgm:cxn modelId="{DBBD51D1-89EB-42F0-B649-B1844EFD12C8}" type="presParOf" srcId="{C0066277-36C4-4A82-BA24-52563B592932}" destId="{5E34593C-841F-4591-9BF5-992862FD3A89}" srcOrd="1" destOrd="0" presId="urn:microsoft.com/office/officeart/2018/2/layout/IconLabelList"/>
    <dgm:cxn modelId="{5B8485C5-0757-4A72-A4BD-2DF5CD834BED}" type="presParOf" srcId="{C0066277-36C4-4A82-BA24-52563B592932}" destId="{C449BFC9-6504-4D65-B419-70543F38C641}" srcOrd="2" destOrd="0" presId="urn:microsoft.com/office/officeart/2018/2/layout/IconLabelList"/>
    <dgm:cxn modelId="{5900DDB3-8966-4F7F-BA10-027889ED954E}" type="presParOf" srcId="{A8DAB0A0-1DF0-4D8D-AFA6-E79BAC84B3F0}" destId="{E8B9656A-6E92-4489-BADA-A4E7AA058AC3}" srcOrd="3" destOrd="0" presId="urn:microsoft.com/office/officeart/2018/2/layout/IconLabelList"/>
    <dgm:cxn modelId="{BA9A0C71-0267-45B7-9075-8434C5CD3C1D}" type="presParOf" srcId="{A8DAB0A0-1DF0-4D8D-AFA6-E79BAC84B3F0}" destId="{52BE369E-E81F-4417-A6CA-BC86D337BCEB}" srcOrd="4" destOrd="0" presId="urn:microsoft.com/office/officeart/2018/2/layout/IconLabelList"/>
    <dgm:cxn modelId="{FBC95C26-5165-44E5-9831-A19862602204}" type="presParOf" srcId="{52BE369E-E81F-4417-A6CA-BC86D337BCEB}" destId="{39344CD6-EF27-4C42-9E1A-39E3835144CE}" srcOrd="0" destOrd="0" presId="urn:microsoft.com/office/officeart/2018/2/layout/IconLabelList"/>
    <dgm:cxn modelId="{3B20AAD6-4C7A-45F7-877F-31286F8BA075}" type="presParOf" srcId="{52BE369E-E81F-4417-A6CA-BC86D337BCEB}" destId="{D5C8759F-1D92-4BEA-A492-6C16467FB1B2}" srcOrd="1" destOrd="0" presId="urn:microsoft.com/office/officeart/2018/2/layout/IconLabelList"/>
    <dgm:cxn modelId="{51149105-13BC-489A-B8CA-A3E0C0032B06}" type="presParOf" srcId="{52BE369E-E81F-4417-A6CA-BC86D337BCEB}" destId="{E15E07DD-A01C-4162-A6B1-5F4CF869F2A8}" srcOrd="2" destOrd="0" presId="urn:microsoft.com/office/officeart/2018/2/layout/IconLabelList"/>
    <dgm:cxn modelId="{71F526E5-7471-4A40-BCCB-3DAAEC2FE457}" type="presParOf" srcId="{A8DAB0A0-1DF0-4D8D-AFA6-E79BAC84B3F0}" destId="{98E91B62-B732-421A-B077-6DA101B157CC}" srcOrd="5" destOrd="0" presId="urn:microsoft.com/office/officeart/2018/2/layout/IconLabelList"/>
    <dgm:cxn modelId="{77B83141-F191-4018-BA05-9A65942FB0ED}" type="presParOf" srcId="{A8DAB0A0-1DF0-4D8D-AFA6-E79BAC84B3F0}" destId="{62230E09-ABDE-4B11-AC3B-FE2F7FAEC784}" srcOrd="6" destOrd="0" presId="urn:microsoft.com/office/officeart/2018/2/layout/IconLabelList"/>
    <dgm:cxn modelId="{5522F3AF-8A67-4CCE-BDEF-CD0DC1D95ED6}" type="presParOf" srcId="{62230E09-ABDE-4B11-AC3B-FE2F7FAEC784}" destId="{D8F8D391-BBE9-44D4-9FFA-18B14F89E7BA}" srcOrd="0" destOrd="0" presId="urn:microsoft.com/office/officeart/2018/2/layout/IconLabelList"/>
    <dgm:cxn modelId="{53C9FAA8-B491-4454-AAE9-D42730C0E4B6}" type="presParOf" srcId="{62230E09-ABDE-4B11-AC3B-FE2F7FAEC784}" destId="{5FCEF73E-1DEB-427E-B6AC-7E6A746B6659}" srcOrd="1" destOrd="0" presId="urn:microsoft.com/office/officeart/2018/2/layout/IconLabelList"/>
    <dgm:cxn modelId="{D3AF8AF5-E40A-4A53-AD17-8A41C93E3B92}" type="presParOf" srcId="{62230E09-ABDE-4B11-AC3B-FE2F7FAEC784}" destId="{314D7432-4C61-4543-92E6-B10F84AC8C3F}" srcOrd="2" destOrd="0" presId="urn:microsoft.com/office/officeart/2018/2/layout/IconLabelList"/>
    <dgm:cxn modelId="{3A3C9BD3-9A8C-43B9-95AA-000A7D5898B8}" type="presParOf" srcId="{A8DAB0A0-1DF0-4D8D-AFA6-E79BAC84B3F0}" destId="{EA3F7D2E-902C-46E9-9C1E-036BDF588AB4}" srcOrd="7" destOrd="0" presId="urn:microsoft.com/office/officeart/2018/2/layout/IconLabelList"/>
    <dgm:cxn modelId="{CECE8233-6D03-4BCF-81C5-6963C358630E}" type="presParOf" srcId="{A8DAB0A0-1DF0-4D8D-AFA6-E79BAC84B3F0}" destId="{2BE612C4-6245-4439-8A70-1C8FB66DAB55}" srcOrd="8" destOrd="0" presId="urn:microsoft.com/office/officeart/2018/2/layout/IconLabelList"/>
    <dgm:cxn modelId="{7087DF1E-24C6-4FDE-9F39-9EDF5B2026C9}" type="presParOf" srcId="{2BE612C4-6245-4439-8A70-1C8FB66DAB55}" destId="{AC125BF6-CDF9-446D-8FDA-0181F68FD3F1}" srcOrd="0" destOrd="0" presId="urn:microsoft.com/office/officeart/2018/2/layout/IconLabelList"/>
    <dgm:cxn modelId="{D09A591F-34E6-4BCD-B71F-4FF49CA062AF}" type="presParOf" srcId="{2BE612C4-6245-4439-8A70-1C8FB66DAB55}" destId="{7BB86ABB-6348-42A7-BA5D-7F08A7F02501}" srcOrd="1" destOrd="0" presId="urn:microsoft.com/office/officeart/2018/2/layout/IconLabelList"/>
    <dgm:cxn modelId="{AAEF541F-C84A-4F7A-B0A6-10100560D308}" type="presParOf" srcId="{2BE612C4-6245-4439-8A70-1C8FB66DAB55}" destId="{BEC5AFF9-3C44-44C9-B011-EF6350881690}" srcOrd="2" destOrd="0" presId="urn:microsoft.com/office/officeart/2018/2/layout/IconLabelList"/>
    <dgm:cxn modelId="{6C24D911-0D31-467D-9B76-BD69B529F790}" type="presParOf" srcId="{A8DAB0A0-1DF0-4D8D-AFA6-E79BAC84B3F0}" destId="{D36584D2-EA09-412B-8840-20FC2798A368}" srcOrd="9" destOrd="0" presId="urn:microsoft.com/office/officeart/2018/2/layout/IconLabelList"/>
    <dgm:cxn modelId="{DD2016DC-2B36-4D8B-AA2D-ADFDC2C0B63F}" type="presParOf" srcId="{A8DAB0A0-1DF0-4D8D-AFA6-E79BAC84B3F0}" destId="{918F691A-982C-4011-A4CD-88499F24652B}" srcOrd="10" destOrd="0" presId="urn:microsoft.com/office/officeart/2018/2/layout/IconLabelList"/>
    <dgm:cxn modelId="{8C003B33-D6B5-43FF-9F8D-0FC84B1BB383}" type="presParOf" srcId="{918F691A-982C-4011-A4CD-88499F24652B}" destId="{7B6AB0F4-C050-4524-8CB9-2E54C122BA32}" srcOrd="0" destOrd="0" presId="urn:microsoft.com/office/officeart/2018/2/layout/IconLabelList"/>
    <dgm:cxn modelId="{E0CAAF7F-8964-4351-991F-2F905BB63E40}" type="presParOf" srcId="{918F691A-982C-4011-A4CD-88499F24652B}" destId="{4B38AA30-5FC0-45A7-892A-086E03B9EAA3}" srcOrd="1" destOrd="0" presId="urn:microsoft.com/office/officeart/2018/2/layout/IconLabelList"/>
    <dgm:cxn modelId="{4DA3F54F-85A4-423A-A9F4-4E16E8FBDDC4}" type="presParOf" srcId="{918F691A-982C-4011-A4CD-88499F24652B}" destId="{D9E6C246-B75F-4C69-9B4B-1103600586F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1AB157-C48E-41E7-879A-E5119A91EB30}">
      <dsp:nvSpPr>
        <dsp:cNvPr id="0" name=""/>
        <dsp:cNvSpPr/>
      </dsp:nvSpPr>
      <dsp:spPr>
        <a:xfrm>
          <a:off x="438504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D4544-A209-43F8-BBD5-4C13E71DABEE}">
      <dsp:nvSpPr>
        <dsp:cNvPr id="0" name=""/>
        <dsp:cNvSpPr/>
      </dsp:nvSpPr>
      <dsp:spPr>
        <a:xfrm>
          <a:off x="1512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Documentation about tables, architecture, and reports</a:t>
          </a:r>
        </a:p>
      </dsp:txBody>
      <dsp:txXfrm>
        <a:off x="1512" y="2261913"/>
        <a:ext cx="1589062" cy="635625"/>
      </dsp:txXfrm>
    </dsp:sp>
    <dsp:sp modelId="{693D4E05-467B-4F65-8660-5285B465889F}">
      <dsp:nvSpPr>
        <dsp:cNvPr id="0" name=""/>
        <dsp:cNvSpPr/>
      </dsp:nvSpPr>
      <dsp:spPr>
        <a:xfrm>
          <a:off x="2305652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49BFC9-6504-4D65-B419-70543F38C641}">
      <dsp:nvSpPr>
        <dsp:cNvPr id="0" name=""/>
        <dsp:cNvSpPr/>
      </dsp:nvSpPr>
      <dsp:spPr>
        <a:xfrm>
          <a:off x="1868660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Integration of Kafka with “Xarid” databases and its optimization</a:t>
          </a:r>
        </a:p>
      </dsp:txBody>
      <dsp:txXfrm>
        <a:off x="1868660" y="2261913"/>
        <a:ext cx="1589062" cy="635625"/>
      </dsp:txXfrm>
    </dsp:sp>
    <dsp:sp modelId="{39344CD6-EF27-4C42-9E1A-39E3835144CE}">
      <dsp:nvSpPr>
        <dsp:cNvPr id="0" name=""/>
        <dsp:cNvSpPr/>
      </dsp:nvSpPr>
      <dsp:spPr>
        <a:xfrm>
          <a:off x="4172801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E07DD-A01C-4162-A6B1-5F4CF869F2A8}">
      <dsp:nvSpPr>
        <dsp:cNvPr id="0" name=""/>
        <dsp:cNvSpPr/>
      </dsp:nvSpPr>
      <dsp:spPr>
        <a:xfrm>
          <a:off x="3735809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Integration of Airflow, dbt and metabase in test environment</a:t>
          </a:r>
        </a:p>
      </dsp:txBody>
      <dsp:txXfrm>
        <a:off x="3735809" y="2261913"/>
        <a:ext cx="1589062" cy="635625"/>
      </dsp:txXfrm>
    </dsp:sp>
    <dsp:sp modelId="{D8F8D391-BBE9-44D4-9FFA-18B14F89E7BA}">
      <dsp:nvSpPr>
        <dsp:cNvPr id="0" name=""/>
        <dsp:cNvSpPr/>
      </dsp:nvSpPr>
      <dsp:spPr>
        <a:xfrm>
          <a:off x="6039949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4D7432-4C61-4543-92E6-B10F84AC8C3F}">
      <dsp:nvSpPr>
        <dsp:cNvPr id="0" name=""/>
        <dsp:cNvSpPr/>
      </dsp:nvSpPr>
      <dsp:spPr>
        <a:xfrm>
          <a:off x="5602957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Start the analysis of “Spot” database</a:t>
          </a:r>
        </a:p>
      </dsp:txBody>
      <dsp:txXfrm>
        <a:off x="5602957" y="2261913"/>
        <a:ext cx="1589062" cy="635625"/>
      </dsp:txXfrm>
    </dsp:sp>
    <dsp:sp modelId="{AC125BF6-CDF9-446D-8FDA-0181F68FD3F1}">
      <dsp:nvSpPr>
        <dsp:cNvPr id="0" name=""/>
        <dsp:cNvSpPr/>
      </dsp:nvSpPr>
      <dsp:spPr>
        <a:xfrm>
          <a:off x="7907098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C5AFF9-3C44-44C9-B011-EF6350881690}">
      <dsp:nvSpPr>
        <dsp:cNvPr id="0" name=""/>
        <dsp:cNvSpPr/>
      </dsp:nvSpPr>
      <dsp:spPr>
        <a:xfrm>
          <a:off x="7470105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Publishing 4 main reports for ‘E-tender’, ‘Auction’, ‘Shop’ directions</a:t>
          </a:r>
        </a:p>
      </dsp:txBody>
      <dsp:txXfrm>
        <a:off x="7470105" y="2261913"/>
        <a:ext cx="1589062" cy="635625"/>
      </dsp:txXfrm>
    </dsp:sp>
    <dsp:sp modelId="{7B6AB0F4-C050-4524-8CB9-2E54C122BA32}">
      <dsp:nvSpPr>
        <dsp:cNvPr id="0" name=""/>
        <dsp:cNvSpPr/>
      </dsp:nvSpPr>
      <dsp:spPr>
        <a:xfrm>
          <a:off x="9774246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E6C246-B75F-4C69-9B4B-1103600586F0}">
      <dsp:nvSpPr>
        <dsp:cNvPr id="0" name=""/>
        <dsp:cNvSpPr/>
      </dsp:nvSpPr>
      <dsp:spPr>
        <a:xfrm>
          <a:off x="9337254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Making dashboards for plan tracking and e-tender figures</a:t>
          </a:r>
        </a:p>
      </dsp:txBody>
      <dsp:txXfrm>
        <a:off x="9337254" y="2261913"/>
        <a:ext cx="1589062" cy="6356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745929-38A8-13C5-4497-C90C61BB6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0B3A2F-6FA0-9F5B-61F6-E796885B0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0F9B4C-FEF4-6C87-9553-0267B41A6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902084-848D-BC14-6AA2-64180CFCE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A1B4A1-C60A-008D-5BED-1E015945E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2006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BB0F6C-C8E4-D0EE-7E9B-325010F0A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40F52F-2188-2659-5E1D-FBF540A02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EC537D-AE50-0108-C88F-A49A9EF5F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9A0A0D-E312-58C9-7A37-DF623CC0C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F552C8-C7F7-A62F-D780-5A687E089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2288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DCC2A-6969-C97C-D2C7-43726003D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E073FA-399D-55D0-3758-741A5804A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180458-D9F5-53BA-48F4-6DFDC0142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0C069C-0DCB-CC94-85D8-E891A1BC8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F7BA0B-8DC8-3FF9-AF1F-F25BBC348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93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80878-37DB-F59C-5001-CE91702C6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2CF1DB-C702-18C9-1581-2DA1063765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E56D92-0F03-1F81-461A-E97E7E8E8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D84DE0-F24A-B400-37CA-3DD8AD5A9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613D86-04CA-7BFD-25F3-58094AAEE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8882DD3-B7D7-8FBF-56AB-D23428B02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673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DEB34-F9FA-A6F0-A377-D16AE8504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3C5A88-2B81-E661-7939-DAC2CF037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33C91C-6ED8-4C9B-BA75-61678E4C3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03C98D2-32FA-B9D4-5B49-9D22F2F621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F481133-12C9-DE09-0A65-9FA52927E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E6008E9-BAF8-9F55-B95A-6A0682AFA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20CADA1-4EA2-76FB-84C1-354EB26E0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211DCD1-921C-9347-07A1-FCA72B720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455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E1D12D-9845-F883-B71C-6F3361347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6857A99-66FC-B448-F904-48040DD27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215989D-5050-68F1-C41B-0BBAAA20B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FA34DA-0CC0-96DA-3DB5-3A7EFB2D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459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31E0AA1-2240-4396-3D43-D632101A5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EDFAD50-6DA4-BB7E-0282-D704CBF81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B3C853-6306-4E61-0E06-B12C452EE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333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92D918-73B9-F851-5B19-16B86BECC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8CB5AA-61FE-72C9-65C4-99F0C7759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2BB147C-8C5D-84F7-556A-5A2EABF95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9D7535-DE97-6F91-FB80-580E81A0B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51BA0C-C0EE-F9D7-89BF-7484B884C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9A5F280-EE71-D1D4-C9B9-05160927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091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DD995D-97F9-CB7A-2CC0-B2682030D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3614853-31E1-8151-ED36-846B29DF6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9DE660-88DE-0B3E-5A56-FACBD7655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9865EA-FC38-E814-F6E7-A795142D1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84803FA-E4A9-FFB2-E6DD-D9AFCFDA0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83628D-1063-7294-2DB4-619C6838A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79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8E5595-18CE-8541-3A90-473976556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0A04BF7-FEB3-97A3-EC40-A594E56B8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70947A-7076-73A0-BDB6-B6BF1D4B1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A677CF-A2DF-926B-4896-AFE840464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F03A66-1DFF-E63B-670C-B70BB6A5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1664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ED61AC1-DE3D-B5B9-773C-0D51F2B41B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77A602-C8F4-36BA-50E0-144E1A1B4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68D166-E880-584D-C6D0-C565156E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FBDE85-6419-4868-6D28-C761D7BAF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F8C039-B301-19E4-AEAB-7A50E5658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360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5A9F3D-526D-DDEC-29C1-BBD38FDD5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CA123C-0F66-0439-1765-CC5212A25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26A2DC-0CB1-2CFB-1987-B724A0987E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B31EC9-3777-4F9E-975D-1F7D3C674E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DD3F1D-C177-29B6-83D2-8EC1ED28C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610EB1-1092-04B9-AA31-CFFFEABD9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7E3E73-233B-4E86-94F2-B9E311039C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291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6D3B3-FA0C-E50E-633F-82C8A5DDD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Data Warehouse Architecture &amp; Implementation Roadmap </a:t>
            </a:r>
            <a:endParaRPr lang="ru-RU" sz="4800" dirty="0">
              <a:solidFill>
                <a:srgbClr val="FFFFFF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1311856-37F8-7C8B-2C80-719434C8D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3841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5" name="Freeform: Shape 104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44BA13-38C5-EADE-0220-5C90B0020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a Data Warehouse (DWH)?</a:t>
            </a:r>
          </a:p>
        </p:txBody>
      </p:sp>
      <p:pic>
        <p:nvPicPr>
          <p:cNvPr id="1027" name="Picture 3" descr="Data Warehouse Architecture with layer of data source, data staging, data storage and presentation or report">
            <a:extLst>
              <a:ext uri="{FF2B5EF4-FFF2-40B4-BE49-F238E27FC236}">
                <a16:creationId xmlns:a16="http://schemas.microsoft.com/office/drawing/2014/main" id="{CF3155B0-12DB-A6DF-D593-089684D6E6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2428" y="538701"/>
            <a:ext cx="7225748" cy="5780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731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804ED-D2BB-EB6F-ED85-E0C208405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772" y="85857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importance of DWH</a:t>
            </a:r>
          </a:p>
        </p:txBody>
      </p:sp>
      <p:pic>
        <p:nvPicPr>
          <p:cNvPr id="10" name="Рисунок 9" descr="Изображение выглядит как текст, снимок экрана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31DDF14-8345-8BDE-F08D-E9F721CD5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882" y="1266782"/>
            <a:ext cx="6935185" cy="4629236"/>
          </a:xfrm>
          <a:prstGeom prst="rect">
            <a:avLst/>
          </a:prstGeom>
        </p:spPr>
      </p:pic>
      <p:sp>
        <p:nvSpPr>
          <p:cNvPr id="6" name="AutoShape 6" descr="Сформированное изображение">
            <a:extLst>
              <a:ext uri="{FF2B5EF4-FFF2-40B4-BE49-F238E27FC236}">
                <a16:creationId xmlns:a16="http://schemas.microsoft.com/office/drawing/2014/main" id="{4C583AE1-E542-1131-B4C8-27A8B99BA9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10" descr="Сформированное изображение">
            <a:extLst>
              <a:ext uri="{FF2B5EF4-FFF2-40B4-BE49-F238E27FC236}">
                <a16:creationId xmlns:a16="http://schemas.microsoft.com/office/drawing/2014/main" id="{69624A2F-D8CD-D596-D102-9F15A53890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2297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40F03B-592F-3D2D-A4A0-9B7E74C07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0" y="5279511"/>
            <a:ext cx="9681882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High-Level Architecture</a:t>
            </a:r>
          </a:p>
        </p:txBody>
      </p:sp>
      <p:pic>
        <p:nvPicPr>
          <p:cNvPr id="5" name="Объект 4" descr="Изображение выглядит как текст, диаграмма, План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A578C1F-6DAC-80BE-003F-DCE5CB3ADE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9166" y="579473"/>
            <a:ext cx="8893667" cy="422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781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12A82-FB88-8181-D8CF-D7BAF336C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3 </a:t>
            </a:r>
            <a:r>
              <a:rPr lang="ru-RU" sz="4000" dirty="0">
                <a:solidFill>
                  <a:srgbClr val="FFFFFF"/>
                </a:solidFill>
              </a:rPr>
              <a:t>–</a:t>
            </a:r>
            <a:r>
              <a:rPr lang="en-US" sz="4000" dirty="0">
                <a:solidFill>
                  <a:srgbClr val="FFFFFF"/>
                </a:solidFill>
              </a:rPr>
              <a:t> month plan </a:t>
            </a:r>
            <a:endParaRPr lang="ru-RU" sz="4000" dirty="0">
              <a:solidFill>
                <a:srgbClr val="FFFFFF"/>
              </a:solidFill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5DD0084F-9F48-FFDF-001E-56B3E9D54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– analyzing “Xarid” database and preparing documentation in Confluence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– choosing stack for DWH and modelling data quality check standards</a:t>
            </a:r>
          </a:p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– loading tables for main reports to stg layer and to </a:t>
            </a:r>
            <a:r>
              <a:rPr lang="en-US" dirty="0" err="1"/>
              <a:t>ods</a:t>
            </a:r>
            <a:r>
              <a:rPr lang="en-US" dirty="0"/>
              <a:t> with normalization and data quality checks. Also check the reports in test environment</a:t>
            </a:r>
          </a:p>
        </p:txBody>
      </p:sp>
    </p:spTree>
    <p:extLst>
      <p:ext uri="{BB962C8B-B14F-4D97-AF65-F5344CB8AC3E}">
        <p14:creationId xmlns:p14="http://schemas.microsoft.com/office/powerpoint/2010/main" val="4221413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8701D6-9716-C6D6-BA94-93BDCDE24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Done during 3 months</a:t>
            </a:r>
            <a:endParaRPr lang="ru-RU" sz="4000">
              <a:solidFill>
                <a:srgbClr val="FFFFFF"/>
              </a:solidFill>
            </a:endParaRP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BAF6D671-501F-2D94-0FB6-5426D5FE40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206051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9611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2" name="Rectangle 3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528023-8CBE-0BA0-461D-523691B66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E-tender dashboards </a:t>
            </a:r>
          </a:p>
        </p:txBody>
      </p:sp>
      <p:pic>
        <p:nvPicPr>
          <p:cNvPr id="5" name="Рисунок 4" descr="Изображение выглядит как текст, снимок экрана, круг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1FA769D-DE66-A3DE-7398-163FC00CA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84" y="2876234"/>
            <a:ext cx="6198827" cy="2680992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57FC47-4A24-4FD9-B35B-6E348C334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578" y="2876234"/>
            <a:ext cx="5131087" cy="268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615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8219ED-099E-44C7-AC65-E2F485F6E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Report and plan dashboard</a:t>
            </a:r>
          </a:p>
        </p:txBody>
      </p:sp>
      <p:pic>
        <p:nvPicPr>
          <p:cNvPr id="7" name="Объект 6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94A4C3-8F4E-6A36-B39A-43842CFFE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734" y="2217815"/>
            <a:ext cx="5835266" cy="3632453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DEF1C51-CCF1-53E6-8BF6-559D97192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235" y="2217815"/>
            <a:ext cx="4456998" cy="363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63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26B32-E208-AA1E-2A7A-5FDDC6701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Plan for next 3 months</a:t>
            </a:r>
            <a:endParaRPr lang="ru-RU" sz="4000">
              <a:solidFill>
                <a:srgbClr val="FFFFFF"/>
              </a:solidFill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230B84C-162B-38AE-375F-AEB6B8FB6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– transferring main ‘Xarid’ tables from </a:t>
            </a:r>
            <a:r>
              <a:rPr lang="en-US" dirty="0" err="1"/>
              <a:t>ods</a:t>
            </a:r>
            <a:r>
              <a:rPr lang="en-US" dirty="0"/>
              <a:t> layer to </a:t>
            </a:r>
            <a:r>
              <a:rPr lang="en-US" dirty="0" err="1"/>
              <a:t>dds</a:t>
            </a:r>
            <a:r>
              <a:rPr lang="en-US" dirty="0"/>
              <a:t> layer, deploying data quality checks and integration of </a:t>
            </a:r>
            <a:r>
              <a:rPr lang="en-US" dirty="0" err="1"/>
              <a:t>dbt</a:t>
            </a:r>
            <a:r>
              <a:rPr lang="en-US" dirty="0"/>
              <a:t> with airflow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– transferring main ‘Xarid’ tables from </a:t>
            </a:r>
            <a:r>
              <a:rPr lang="en-US" dirty="0" err="1"/>
              <a:t>dds</a:t>
            </a:r>
            <a:r>
              <a:rPr lang="en-US" dirty="0"/>
              <a:t> layer to dm, publishing more ’Xarid’ dashboards to </a:t>
            </a:r>
            <a:r>
              <a:rPr lang="en-US" dirty="0" err="1"/>
              <a:t>metabase</a:t>
            </a:r>
            <a:r>
              <a:rPr lang="en-US" dirty="0"/>
              <a:t> and finish main reports in </a:t>
            </a:r>
            <a:r>
              <a:rPr lang="en-US" dirty="0" err="1"/>
              <a:t>metabase</a:t>
            </a:r>
            <a:r>
              <a:rPr lang="en-US" dirty="0"/>
              <a:t>, start </a:t>
            </a:r>
            <a:r>
              <a:rPr lang="en-US" dirty="0" err="1"/>
              <a:t>analysing</a:t>
            </a:r>
            <a:r>
              <a:rPr lang="en-US" dirty="0"/>
              <a:t> spot database and its reports</a:t>
            </a:r>
          </a:p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– </a:t>
            </a:r>
          </a:p>
        </p:txBody>
      </p:sp>
    </p:spTree>
    <p:extLst>
      <p:ext uri="{BB962C8B-B14F-4D97-AF65-F5344CB8AC3E}">
        <p14:creationId xmlns:p14="http://schemas.microsoft.com/office/powerpoint/2010/main" val="1051916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F4F943-680D-C150-EE74-4E1034820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Plan for </a:t>
            </a:r>
            <a:r>
              <a:rPr lang="en-US" sz="4000" dirty="0" err="1">
                <a:solidFill>
                  <a:srgbClr val="FFFFFF"/>
                </a:solidFill>
              </a:rPr>
              <a:t>Devops</a:t>
            </a:r>
            <a:r>
              <a:rPr lang="en-US" sz="4000" dirty="0">
                <a:solidFill>
                  <a:srgbClr val="FFFFFF"/>
                </a:solidFill>
              </a:rPr>
              <a:t> next 3 months</a:t>
            </a:r>
            <a:endParaRPr lang="ru-RU" sz="4000" dirty="0">
              <a:solidFill>
                <a:srgbClr val="FFFFFF"/>
              </a:solidFill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2FE3849-4C63-A12A-79C1-AF5552DEF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– Deployment and configuration in K8s cluster and deployment of ADB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– Configuration of </a:t>
            </a:r>
            <a:r>
              <a:rPr lang="en-US" dirty="0" err="1"/>
              <a:t>Debezium</a:t>
            </a:r>
            <a:r>
              <a:rPr lang="en-US" dirty="0"/>
              <a:t> connectors in K8s, airflow and </a:t>
            </a:r>
            <a:r>
              <a:rPr lang="en-US" dirty="0" err="1"/>
              <a:t>dbt</a:t>
            </a:r>
            <a:r>
              <a:rPr lang="en-US" dirty="0"/>
              <a:t> and s3 for DWH</a:t>
            </a:r>
          </a:p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– Deployment of Victoria metrics and Victoria logs for collection of metrics, configuration of Grafana for monitoring and basic </a:t>
            </a:r>
            <a:r>
              <a:rPr lang="en-US" dirty="0" err="1"/>
              <a:t>alertmanager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88783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63E1E80792054A90EF8061E6F6F18C" ma:contentTypeVersion="14" ma:contentTypeDescription="Create a new document." ma:contentTypeScope="" ma:versionID="224554383f94cb0828a7df0b9a310fa7">
  <xsd:schema xmlns:xsd="http://www.w3.org/2001/XMLSchema" xmlns:xs="http://www.w3.org/2001/XMLSchema" xmlns:p="http://schemas.microsoft.com/office/2006/metadata/properties" xmlns:ns3="cce99395-e59b-471f-bda0-36fd3164b0dd" xmlns:ns4="a662e1cb-1b89-4e19-88b0-a062aec55467" targetNamespace="http://schemas.microsoft.com/office/2006/metadata/properties" ma:root="true" ma:fieldsID="a83cd073ced406f594e8245a19315152" ns3:_="" ns4:_="">
    <xsd:import namespace="cce99395-e59b-471f-bda0-36fd3164b0dd"/>
    <xsd:import namespace="a662e1cb-1b89-4e19-88b0-a062aec5546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e99395-e59b-471f-bda0-36fd3164b0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62e1cb-1b89-4e19-88b0-a062aec5546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ce99395-e59b-471f-bda0-36fd3164b0dd" xsi:nil="true"/>
  </documentManagement>
</p:properties>
</file>

<file path=customXml/itemProps1.xml><?xml version="1.0" encoding="utf-8"?>
<ds:datastoreItem xmlns:ds="http://schemas.openxmlformats.org/officeDocument/2006/customXml" ds:itemID="{87423548-3300-49F4-9463-0A11C6C936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e99395-e59b-471f-bda0-36fd3164b0dd"/>
    <ds:schemaRef ds:uri="a662e1cb-1b89-4e19-88b0-a062aec554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C698AE-0B5D-4DBC-BCB7-E4A57F2535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077B29-D17A-48EC-823A-2A3C9CA397BC}">
  <ds:schemaRefs>
    <ds:schemaRef ds:uri="http://schemas.microsoft.com/office/2006/documentManagement/types"/>
    <ds:schemaRef ds:uri="cce99395-e59b-471f-bda0-36fd3164b0dd"/>
    <ds:schemaRef ds:uri="http://purl.org/dc/dcmitype/"/>
    <ds:schemaRef ds:uri="http://purl.org/dc/elements/1.1/"/>
    <ds:schemaRef ds:uri="http://www.w3.org/XML/1998/namespace"/>
    <ds:schemaRef ds:uri="a662e1cb-1b89-4e19-88b0-a062aec55467"/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1739</TotalTime>
  <Words>268</Words>
  <Application>Microsoft Office PowerPoint</Application>
  <PresentationFormat>Широкоэкранный</PresentationFormat>
  <Paragraphs>25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Тема Office</vt:lpstr>
      <vt:lpstr>Data Warehouse Architecture &amp; Implementation Roadmap </vt:lpstr>
      <vt:lpstr>What is a Data Warehouse (DWH)?</vt:lpstr>
      <vt:lpstr>The importance of DWH</vt:lpstr>
      <vt:lpstr>High-Level Architecture</vt:lpstr>
      <vt:lpstr>3 – month plan </vt:lpstr>
      <vt:lpstr>Done during 3 months</vt:lpstr>
      <vt:lpstr>E-tender dashboards </vt:lpstr>
      <vt:lpstr>Report and plan dashboard</vt:lpstr>
      <vt:lpstr>Plan for next 3 months</vt:lpstr>
      <vt:lpstr>Plan for Devops next 3 months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Saidmurodkhon Mukhitdinov</dc:creator>
  <cp:lastModifiedBy>Saidmurodkhon Mukhitdinov</cp:lastModifiedBy>
  <cp:revision>2</cp:revision>
  <dcterms:created xsi:type="dcterms:W3CDTF">2026-02-23T05:58:04Z</dcterms:created>
  <dcterms:modified xsi:type="dcterms:W3CDTF">2026-02-24T10:57:08Z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0x0101003563E1E80792054A90EF8061E6F6F18C</vt:lpwstr>
  </property>
</Properties>
</file>