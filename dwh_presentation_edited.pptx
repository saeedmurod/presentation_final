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8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35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9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6858000" y="-457200"/>
            <a:ext cx="2286000" cy="2286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-731520" y="3200400"/>
            <a:ext cx="1828800" cy="18288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5486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ХРАНИЛИЩЕ</a:t>
            </a:r>
            <a:endParaRPr lang="en-US" sz="5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ДАННЫХ:</a:t>
            </a:r>
            <a:endParaRPr lang="en-US" sz="5200" dirty="0"/>
          </a:p>
        </p:txBody>
      </p:sp>
      <p:sp>
        <p:nvSpPr>
          <p:cNvPr id="6" name="Text 1"/>
          <p:cNvSpPr/>
          <p:nvPr/>
        </p:nvSpPr>
        <p:spPr>
          <a:xfrm>
            <a:off x="640080" y="2743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АРХИТЕКТУРА</a:t>
            </a:r>
            <a:endParaRPr lang="en-US" sz="4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 ВНЕДРЕНИЕ</a:t>
            </a:r>
            <a:endParaRPr lang="en-US" sz="4200" dirty="0"/>
          </a:p>
        </p:txBody>
      </p:sp>
      <p:sp>
        <p:nvSpPr>
          <p:cNvPr id="7" name="Text 2"/>
          <p:cNvSpPr/>
          <p:nvPr/>
        </p:nvSpPr>
        <p:spPr>
          <a:xfrm>
            <a:off x="64008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О'зРТХБ АЖ  |  Отдел ИТ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ТАКОЕ ДВХ?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0" y="100584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9160" y="1097280"/>
            <a:ext cx="402336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0584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2A2A4A">
              <a:alpha val="7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188720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80160" y="10972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 (ДВХ) — центральное хранилище, которое объединяет данные из разных источников в единую, структурированную и оптимизированную для аналитики систему.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78892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4300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источник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114300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данные объединены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566160"/>
            <a:ext cx="365760" cy="3657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30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Быстрая аналитика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11430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Мгновенные отчёты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343400"/>
            <a:ext cx="365760" cy="3657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4300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данных</a:t>
            </a:r>
            <a:endParaRPr lang="en-US" sz="1300" dirty="0"/>
          </a:p>
        </p:txBody>
      </p:sp>
      <p:sp>
        <p:nvSpPr>
          <p:cNvPr id="17" name="Text 9"/>
          <p:cNvSpPr/>
          <p:nvPr/>
        </p:nvSpPr>
        <p:spPr>
          <a:xfrm>
            <a:off x="114300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и стандартизация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ПРИЧИНЫ ВНЕДРЕНИЯ ДВХ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515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Разрозненные источники данных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051560" y="13990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Oracle, MSSQL, Excel, API, файлы — нет единого хранилища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1051560" y="210312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37744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Медленная аналитика и отчёты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051560" y="26791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Долгие запросы, нагрузка на OLTP-системы, низкая производительность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1051560" y="338328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5760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объёма данных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051560" y="39593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 и сложность обработки — нужна централизованная платформа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109728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406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показатели KPI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5440680" y="13990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Конфликт данных между отделами, нет единой логики — нет Single Source of Truth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440680" y="210312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377440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4068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историчности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5440680" y="26791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истории изменений, нет SCD — невозможен анализ трендов и отчётность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5440680" y="338328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657600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4068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и Data Governance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5440680" y="39593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очистки и стандартизации данных, нет контроля безопасности и соответствия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ВАЖНОСТЬ ДВХ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ДВХ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463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BI-пользователи и аналитики напрямую нагружают боевую БД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05740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CPU, блокировки таблиц, медленные транзакции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5176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440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Дашборды и отчёты тормозят рабочие процессы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4612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440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Невозможно масштабировать аналитику отдельно от OLTP</a:t>
            </a:r>
            <a:endParaRPr lang="en-US" sz="11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40480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1440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единого формата и стандартов данных</a:t>
            </a:r>
            <a:endParaRPr lang="en-US" sz="1100" dirty="0"/>
          </a:p>
        </p:txBody>
      </p:sp>
      <p:sp>
        <p:nvSpPr>
          <p:cNvPr id="15" name="Shape 7"/>
          <p:cNvSpPr/>
          <p:nvPr/>
        </p:nvSpPr>
        <p:spPr>
          <a:xfrm>
            <a:off x="4572000" y="914400"/>
            <a:ext cx="0" cy="3931920"/>
          </a:xfrm>
          <a:prstGeom prst="line">
            <a:avLst/>
          </a:prstGeom>
          <a:noFill/>
          <a:ln w="190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8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ДВХ</a:t>
            </a:r>
            <a:endParaRPr lang="en-US" sz="18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463040"/>
            <a:ext cx="274320" cy="2743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0352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полностью отделена от боевых систем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057400"/>
            <a:ext cx="274320" cy="27432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30352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Стабильная производительность OLTP-систем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651760"/>
            <a:ext cx="274320" cy="27432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30352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Быстрые дашборды на оптимизированных витринах</a:t>
            </a:r>
            <a:endParaRPr lang="en-US" sz="11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46120"/>
            <a:ext cx="274320" cy="27432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30352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Горизонтальное масштабирование аналитики</a:t>
            </a:r>
            <a:endParaRPr lang="en-US" sz="11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840480"/>
            <a:ext cx="274320" cy="27432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30352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стандарт данных и Data Quality чеки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ЗАЧЕМ ЕЩЁ НУЖЕН ДВХ?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515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нагрузки на боевые БД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051560" y="13990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Аналитические запросы выполняются в ДВХ, не мешая транзакционным системам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1051560" y="210312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37744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версия правды (Single Source of Truth)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051560" y="26791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отделы работают с одинаковыми данными — нет расхождений в KPI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1051560" y="338328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5760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Историчность и SCD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051560" y="39593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история изменений для анализа трендов и принятия решений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109728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406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отчётности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5440680" y="13990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Дашборды обновляются автоматически — не нужно собирать данные вручную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440680" y="210312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377440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4068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и безопасность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5440680" y="26791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доступа, аудит изменений, соответствие регуляциям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5440680" y="3383280"/>
            <a:ext cx="32004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657600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4068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Масштабируемость и рост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5440680" y="39593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готова к увеличению объёмов данных и новых источников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3-МЕСЯЧНЫЙ ПЛАН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FF2E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1-й месяц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базы данных «Xarid» и документирование в Confluence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ежедневного прироста и объёма данных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Изучение целей отделов и существующих отчётов ИТ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и закупка серверного оборудования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0058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3337560" y="100584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35204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2-й месяц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520440" y="173736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стэка для ДВХ на основе объёма данных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и настройка серверов (ОС, сеть, хранилище)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Greenplum кластера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Kafka, Debezium, Airflow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Моделирование Data Quality чеков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10058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3-й месяц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0" y="173736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CDC-коннекторов к «Xarid»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таблиц в STG и ODS слои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Нормализация и Data Quality проверки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первых витрин данных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отчётов в тестовой среде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ПОЭТАПНАЯ ПРОДЕЛАННАЯ РАБОТА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188720" y="1005840"/>
            <a:ext cx="0" cy="3931920"/>
          </a:xfrm>
          <a:prstGeom prst="line">
            <a:avLst/>
          </a:prstGeom>
          <a:noFill/>
          <a:ln w="2540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960120"/>
            <a:ext cx="384048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4480" y="9601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ежедневного прироста и объёма данных в базах «Xarid» и «Spot»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417320"/>
            <a:ext cx="384048" cy="3840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54480" y="14173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Изучение целей отделов и основных отчётов, где ДВХ может упростить работу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1874520"/>
            <a:ext cx="384048" cy="3840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54480" y="18745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стэка для ДВХ на основе объёма данных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2331720"/>
            <a:ext cx="384048" cy="38404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54480" y="23317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серверов: установка ОС, настройка сети, дисковой подсистемы</a:t>
            </a:r>
            <a:endParaRPr lang="en-US" sz="11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" y="2788920"/>
            <a:ext cx="384048" cy="38404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554480" y="27889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Greenplum кластера, Kafka, Debezium, Airflow</a:t>
            </a:r>
            <a:endParaRPr lang="en-US" sz="11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" y="3246120"/>
            <a:ext cx="384048" cy="38404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554480" y="32461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CDC-коннекторов в базу «Xarid» для подтягивания данных</a:t>
            </a:r>
            <a:endParaRPr lang="en-US" sz="11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688" y="3703320"/>
            <a:ext cx="384048" cy="38404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554480" y="37033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чеки и нормализация данных после загрузки в STG-слой</a:t>
            </a:r>
            <a:endParaRPr lang="en-US" sz="11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688" y="4160520"/>
            <a:ext cx="384048" cy="384048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554480" y="41605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витрин данных для быстрой выгрузки отчётов</a:t>
            </a:r>
            <a:endParaRPr lang="en-US" sz="11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688" y="4617720"/>
            <a:ext cx="384048" cy="38404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554480" y="46177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Публикация первого дашборда в Metabase и тестирование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АРХИТЕКТУРА ВЫСОКОГО УРОВНЯ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274320" y="822960"/>
            <a:ext cx="859536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914400"/>
            <a:ext cx="8229600" cy="384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Стэк: Greenplum  |  Debezium  |  Apache Kafka  |  Apache Airflow  |  dbt  |  Metabase  |  GitLab CI/CD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ПРОБЛЕМЫ И РЕШЕНИЯ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7899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005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физической репликации Oracle базы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114800" y="1005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078992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Debezium CDC для логической репликации через redo-логи Oracle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56232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Сложности при снятии Initial Snapshot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114800" y="17830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856232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920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Разбиение на чанки, параллельная загрузка, оптимизация параметров коннектора</a:t>
            </a:r>
            <a:endParaRPr lang="en-US" sz="1150" dirty="0"/>
          </a:p>
        </p:txBody>
      </p:sp>
      <p:sp>
        <p:nvSpPr>
          <p:cNvPr id="15" name="Shape 8"/>
          <p:cNvSpPr/>
          <p:nvPr/>
        </p:nvSpPr>
        <p:spPr>
          <a:xfrm>
            <a:off x="457200" y="2441448"/>
            <a:ext cx="82296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33472"/>
            <a:ext cx="320040" cy="3200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440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CLOB-поля занимают значительный объём хранения</a:t>
            </a:r>
            <a:endParaRPr lang="en-US" sz="1150" dirty="0"/>
          </a:p>
        </p:txBody>
      </p:sp>
      <p:sp>
        <p:nvSpPr>
          <p:cNvPr id="18" name="Text 10"/>
          <p:cNvSpPr/>
          <p:nvPr/>
        </p:nvSpPr>
        <p:spPr>
          <a:xfrm>
            <a:off x="4114800" y="25603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633472"/>
            <a:ext cx="320040" cy="32004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29200" y="2560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данных на уровне Greenplum, фильтрация ненужных CLOB-столбцов</a:t>
            </a:r>
            <a:endParaRPr lang="en-US" sz="1150" dirty="0"/>
          </a:p>
        </p:txBody>
      </p:sp>
      <p:sp>
        <p:nvSpPr>
          <p:cNvPr id="21" name="Shape 12"/>
          <p:cNvSpPr/>
          <p:nvPr/>
        </p:nvSpPr>
        <p:spPr>
          <a:xfrm>
            <a:off x="457200" y="3218688"/>
            <a:ext cx="82296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10712"/>
            <a:ext cx="320040" cy="32004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914400" y="3337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сетевого трафика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4114800" y="3337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410712"/>
            <a:ext cx="320040" cy="32004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29200" y="3337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расписания ETL, инкрементальная загрузка вместо полной</a:t>
            </a:r>
            <a:endParaRPr lang="en-US" sz="1150" dirty="0"/>
          </a:p>
        </p:txBody>
      </p:sp>
      <p:sp>
        <p:nvSpPr>
          <p:cNvPr id="27" name="Shape 16"/>
          <p:cNvSpPr/>
          <p:nvPr/>
        </p:nvSpPr>
        <p:spPr>
          <a:xfrm>
            <a:off x="457200" y="3995928"/>
            <a:ext cx="8229600" cy="0"/>
          </a:xfrm>
          <a:prstGeom prst="line">
            <a:avLst/>
          </a:prstGeom>
          <a:noFill/>
          <a:ln w="635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87952"/>
            <a:ext cx="320040" cy="32004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91440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и консистентность в типе данных</a:t>
            </a:r>
            <a:endParaRPr lang="en-US" sz="1150" dirty="0"/>
          </a:p>
        </p:txBody>
      </p:sp>
      <p:sp>
        <p:nvSpPr>
          <p:cNvPr id="30" name="Text 18"/>
          <p:cNvSpPr/>
          <p:nvPr/>
        </p:nvSpPr>
        <p:spPr>
          <a:xfrm>
            <a:off x="4114800" y="4114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187952"/>
            <a:ext cx="320040" cy="32004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029200" y="4114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dbt-проверок, стандартизация типов на STG-слое, алерты при ошибках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5943600" y="9144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0" y="2286000"/>
            <a:ext cx="2286000" cy="2286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ВЫПОЛНЕНО</a:t>
            </a:r>
            <a:endParaRPr lang="en-US" sz="5600" dirty="0"/>
          </a:p>
        </p:txBody>
      </p:sp>
      <p:sp>
        <p:nvSpPr>
          <p:cNvPr id="6" name="Text 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 3 МЕСЯЦА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ДАШБОРДЫ E-TENDER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274320" y="822960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914400"/>
            <a:ext cx="4023360" cy="2103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63440" y="822960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4880" y="914400"/>
            <a:ext cx="4023360" cy="21031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74320" y="320040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 w="1270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5760" y="3291840"/>
            <a:ext cx="4023360" cy="155448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663440" y="320040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 w="12700">
            <a:solidFill>
              <a:srgbClr val="3A3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54880" y="3291840"/>
            <a:ext cx="402336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РЕЗУЛЬТАТЫ В ЦИФРАХ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4800" dirty="0">
                <a:solidFill>
                  <a:srgbClr val="FF2E93"/>
                </a:solidFill>
                <a:latin typeface="Arial Black" pitchFamily="34" charset="0"/>
              </a:rPr>
              <a:t>4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Отчета переведены на </a:t>
            </a:r>
            <a:r>
              <a:rPr lang="en-US" sz="1200" dirty="0" err="1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Metabase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51760" y="10972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2651760" y="12801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5A623"/>
                </a:solidFill>
                <a:latin typeface="Arial Black" pitchFamily="34" charset="0"/>
              </a:rPr>
              <a:t>2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274320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</a:t>
            </a:r>
            <a:r>
              <a:rPr lang="ru-RU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Metabase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0972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4846320" y="12801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493776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 через CDC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040880" y="10972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7040880" y="12801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713232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Месяца на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первой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версии ДВХ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74904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37360" y="37307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из Oracle загружаются автоматически через CDC (Debezium + Kafka)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06908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050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версия правды для всей организации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38912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37360" y="43708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историчность и аудит изменений данных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70916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37360" y="46908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нагрузки на боевые базы данных Oracle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ПЛАН НА СЛЕДУЮЩИЕ 3 МЕСЯЦА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2651760" cy="54864"/>
          </a:xfrm>
          <a:prstGeom prst="rect">
            <a:avLst/>
          </a:prstGeom>
          <a:solidFill>
            <a:srgbClr val="FF2E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1-й месяц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 основных таблиц «Xarid» из ODS в DDS-слой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Data Quality чеков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dbt с Airflow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9144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3337560" y="91440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352044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2-й месяц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520440" y="16459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 таблиц из DDS в витрины данных (DM)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Публикация дашбордов «Xarid» в Metabase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Завершение основных отчётов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 анализа базы «Spot» и её отчётов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9144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25254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217920" y="914400"/>
            <a:ext cx="2651760" cy="54864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640080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3-й месяц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0" y="16459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ru-RU" sz="1200" dirty="0">
                <a:solidFill>
                  <a:srgbClr val="B8C0CC"/>
                </a:solidFill>
                <a:latin typeface="Arial" pitchFamily="34" charset="0"/>
                <a:cs typeface="Arial" pitchFamily="34" charset="-120"/>
              </a:rPr>
              <a:t>Опубликовать первые основные отчеты </a:t>
            </a:r>
            <a:r>
              <a:rPr lang="en-US" sz="1200" dirty="0">
                <a:solidFill>
                  <a:srgbClr val="B8C0CC"/>
                </a:solidFill>
                <a:latin typeface="Arial" pitchFamily="34" charset="0"/>
                <a:cs typeface="Arial" pitchFamily="34" charset="-120"/>
              </a:rPr>
              <a:t>“Spot” </a:t>
            </a:r>
            <a:r>
              <a:rPr lang="ru-RU" sz="1200" dirty="0">
                <a:solidFill>
                  <a:srgbClr val="B8C0CC"/>
                </a:solidFill>
                <a:latin typeface="Arial" pitchFamily="34" charset="0"/>
                <a:cs typeface="Arial" pitchFamily="34" charset="-120"/>
              </a:rPr>
              <a:t>в </a:t>
            </a:r>
            <a:r>
              <a:rPr lang="en-US" sz="1200" dirty="0" err="1">
                <a:solidFill>
                  <a:srgbClr val="B8C0CC"/>
                </a:solidFill>
                <a:latin typeface="Arial" pitchFamily="34" charset="0"/>
                <a:cs typeface="Arial" pitchFamily="34" charset="-120"/>
              </a:rPr>
              <a:t>Metabase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ru-RU" sz="1200" dirty="0" err="1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Дэшборды</a:t>
            </a:r>
            <a:r>
              <a:rPr lang="ru-RU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наблюдения метрик в </a:t>
            </a:r>
            <a:r>
              <a:rPr lang="en-US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“Spot”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ru-RU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переход отчетов с </a:t>
            </a:r>
            <a:r>
              <a:rPr lang="ru-RU" sz="1200" dirty="0" err="1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Оракл</a:t>
            </a:r>
            <a:r>
              <a:rPr lang="ru-RU" sz="120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ДВХ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2A2A4A">
              <a:alpha val="6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64008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DevOps: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4526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1-й мес: Развёртывание K8s кластера и ADB  |  2-й мес: Настройка Debezium, Airflow, dbt, S3 в K8s  |  3-й мес: Victoria Metrics/Logs + Grafana мониторинг + Alertmanager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-457200" y="13716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6858000" y="1828800"/>
            <a:ext cx="2743200" cy="2743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3200400" y="-457200"/>
            <a:ext cx="2286000" cy="2286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СПАСИБО</a:t>
            </a:r>
            <a:endParaRPr lang="en-US" sz="6000" dirty="0"/>
          </a:p>
        </p:txBody>
      </p:sp>
      <p:sp>
        <p:nvSpPr>
          <p:cNvPr id="7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 ВНИМАНИЕ!</a:t>
            </a:r>
            <a:endParaRPr lang="en-US" sz="4400" dirty="0"/>
          </a:p>
        </p:txBody>
      </p:sp>
      <p:sp>
        <p:nvSpPr>
          <p:cNvPr id="8" name="Shape 2"/>
          <p:cNvSpPr/>
          <p:nvPr/>
        </p:nvSpPr>
        <p:spPr>
          <a:xfrm>
            <a:off x="1371600" y="3200400"/>
            <a:ext cx="1828800" cy="1828800"/>
          </a:xfrm>
          <a:prstGeom prst="ellipse">
            <a:avLst/>
          </a:prstGeom>
          <a:solidFill>
            <a:srgbClr val="252545">
              <a:alpha val="70000"/>
            </a:srgbClr>
          </a:solidFill>
          <a:ln w="31750">
            <a:solidFill>
              <a:srgbClr val="FF2E9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3"/>
          <p:cNvSpPr/>
          <p:nvPr/>
        </p:nvSpPr>
        <p:spPr>
          <a:xfrm>
            <a:off x="1463040" y="3566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вопросам</a:t>
            </a:r>
            <a:endParaRPr lang="en-US" sz="1400" dirty="0"/>
          </a:p>
        </p:txBody>
      </p:sp>
      <p:sp>
        <p:nvSpPr>
          <p:cNvPr id="10" name="Shape 4"/>
          <p:cNvSpPr/>
          <p:nvPr/>
        </p:nvSpPr>
        <p:spPr>
          <a:xfrm>
            <a:off x="3931920" y="3200400"/>
            <a:ext cx="1828800" cy="1828800"/>
          </a:xfrm>
          <a:prstGeom prst="ellipse">
            <a:avLst/>
          </a:prstGeom>
          <a:solidFill>
            <a:srgbClr val="252545">
              <a:alpha val="70000"/>
            </a:srgbClr>
          </a:solidFill>
          <a:ln w="317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5"/>
          <p:cNvSpPr/>
          <p:nvPr/>
        </p:nvSpPr>
        <p:spPr>
          <a:xfrm>
            <a:off x="4023360" y="3566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Продолжаем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развивать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6492240" y="3200400"/>
            <a:ext cx="1828800" cy="1828800"/>
          </a:xfrm>
          <a:prstGeom prst="ellipse">
            <a:avLst/>
          </a:prstGeom>
          <a:solidFill>
            <a:srgbClr val="252545">
              <a:alpha val="70000"/>
            </a:srgbClr>
          </a:solidFill>
          <a:ln w="317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7"/>
          <p:cNvSpPr/>
          <p:nvPr/>
        </p:nvSpPr>
        <p:spPr>
          <a:xfrm>
            <a:off x="6583680" y="3566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будут расти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794</Words>
  <Application>Microsoft Office PowerPoint</Application>
  <PresentationFormat>Экран (16:9)</PresentationFormat>
  <Paragraphs>158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Хранилище данных: Архитектура и внедрение</dc:title>
  <dc:subject>PptxGenJS Presentation</dc:subject>
  <dc:creator>O'zRTXB AJ</dc:creator>
  <cp:lastModifiedBy>Saidmurodkhon Mukhitdinov</cp:lastModifiedBy>
  <cp:revision>3</cp:revision>
  <dcterms:created xsi:type="dcterms:W3CDTF">2026-02-26T06:33:48Z</dcterms:created>
  <dcterms:modified xsi:type="dcterms:W3CDTF">2026-02-26T09:06:03Z</dcterms:modified>
</cp:coreProperties>
</file>